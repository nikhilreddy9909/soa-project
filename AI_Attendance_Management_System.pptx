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Weekly On-Time Attendance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Present %</c:v>
                </c:pt>
              </c:strCache>
            </c:strRef>
          </c:tx>
          <c:spPr>
            <a:solidFill>
              <a:srgbClr val="00D9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</c:v>
                </c:pt>
                <c:pt idx="1">
                  <c:v>96</c:v>
                </c:pt>
                <c:pt idx="2">
                  <c:v>91</c:v>
                </c:pt>
                <c:pt idx="3">
                  <c:v>97</c:v>
                </c:pt>
                <c:pt idx="4">
                  <c:v>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9C2E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2C35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9C2E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0163A"/>
        </a:solidFill>
        <a:ln>
          <a:noFill/>
        </a:ln>
        <a:effectLst/>
      </c:spPr>
    </c:plotArea>
    <c:plotVisOnly val="1"/>
    <c:dispBlanksAs val="span"/>
  </c:chart>
  <c:spPr>
    <a:solidFill>
      <a:srgbClr val="10163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280160"/>
            <a:ext cx="5029200" cy="5029200"/>
          </a:xfrm>
          <a:prstGeom prst="ellipse">
            <a:avLst/>
          </a:prstGeom>
          <a:solidFill>
            <a:srgbClr val="1A2354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457200"/>
            <a:ext cx="3383280" cy="3383280"/>
          </a:xfrm>
          <a:prstGeom prst="ellipse">
            <a:avLst/>
          </a:prstGeom>
          <a:ln w="1905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228600"/>
            <a:ext cx="2011680" cy="2011680"/>
          </a:xfrm>
          <a:prstGeom prst="ellipse">
            <a:avLst/>
          </a:prstGeom>
          <a:ln w="19050">
            <a:solidFill>
              <a:srgbClr val="00D9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A235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SUBJECT PROJECT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74520"/>
            <a:ext cx="9692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Attendance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03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6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Intelligent Automation and Real-Time Analytics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4434840"/>
            <a:ext cx="2011680" cy="0"/>
          </a:xfrm>
          <a:prstGeom prst="line">
            <a:avLst/>
          </a:prstGeom>
          <a:noFill/>
          <a:ln w="31750">
            <a:solidFill>
              <a:srgbClr val="00D9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663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Service-Oriented Architecture approach to automated, intelligent, and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analytics-driven workforce attendance tracking.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6172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|  SOA Coursework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82296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7DE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184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8424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attendance systems fall short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07208"/>
            <a:ext cx="82296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7DE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82549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191256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driving the proposed solution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014216"/>
            <a:ext cx="82296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7DE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03250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39826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and automation change the picture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221224"/>
            <a:ext cx="82296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7DE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523951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Architecture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560527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Services, gateway, and communication design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600200"/>
            <a:ext cx="82296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7DE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16184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198424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recognition, automation, analytics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807208"/>
            <a:ext cx="82296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7DE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282549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3191256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platforms used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4014216"/>
            <a:ext cx="82296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7DE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403250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95160" y="439826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attendance capture process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5221224"/>
            <a:ext cx="82296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7DE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6995160" y="523951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Benefits, Challenges &amp; Future Scope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995160" y="560527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what's next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14574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Attendance Is Slow, Error-Prone,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Impossible to Analyze in Real Time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registers, ID-card swipes, and biometric-only systems capture data but rarely turn it into insight.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still struggle with: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935224"/>
            <a:ext cx="128016" cy="128016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80720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Buddy-punching and proxy attendance fraud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410712"/>
            <a:ext cx="128016" cy="128016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282696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manual entry and reconciliation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28016" cy="128016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75818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 into attendance trends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361688"/>
            <a:ext cx="128016" cy="128016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23367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Delayed, error-prone payroll and compliance reporting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35240" y="685800"/>
            <a:ext cx="4023360" cy="5440680"/>
          </a:xfrm>
          <a:prstGeom prst="roundRect">
            <a:avLst>
              <a:gd name="adj" fmla="val 2727"/>
            </a:avLst>
          </a:prstGeom>
          <a:solidFill>
            <a:srgbClr val="10163A"/>
          </a:solidFill>
          <a:ln/>
          <a:effectLst>
            <a:outerShdw sx="100000" sy="100000" kx="0" ky="0" algn="bl" rotWithShape="0" blurRad="101600" dist="38100" dir="5400000">
              <a:srgbClr val="404040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955280" y="960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THE STATUS QUO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15087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203911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payroll hours contain time-tracking errors industry-wide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955280" y="2679192"/>
            <a:ext cx="3383280" cy="0"/>
          </a:xfrm>
          <a:prstGeom prst="line">
            <a:avLst/>
          </a:prstGeom>
          <a:noFill/>
          <a:ln w="12700">
            <a:solidFill>
              <a:srgbClr val="323B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55280" y="2880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5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341071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report buddy-punching or proxy check-ins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55280" y="4050792"/>
            <a:ext cx="3383280" cy="0"/>
          </a:xfrm>
          <a:prstGeom prst="line">
            <a:avLst/>
          </a:prstGeom>
          <a:noFill/>
          <a:ln w="12700">
            <a:solidFill>
              <a:srgbClr val="323B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55280" y="4251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0" y="478231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weekly reconciling manual attendance sheets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955280" y="5422392"/>
            <a:ext cx="3383280" cy="0"/>
          </a:xfrm>
          <a:prstGeom prst="line">
            <a:avLst/>
          </a:prstGeom>
          <a:noFill/>
          <a:ln w="12700">
            <a:solidFill>
              <a:srgbClr val="323B6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0" y="56418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industry workforce-management studies (illustrative figures)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574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Aims to Achieve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4040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105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45059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Capture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79806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manual entry using face recognition and IoT-enabled check-in/out.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40404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1810512"/>
            <a:ext cx="502920" cy="502920"/>
          </a:xfrm>
          <a:prstGeom prst="ellipse">
            <a:avLst/>
          </a:prstGeom>
          <a:solidFill>
            <a:srgbClr val="1016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9432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45059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Accuracy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79806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proxy attendance and human error through biometric verification.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5544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40404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18105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94192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94192" y="245059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Real-Time Insight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394192" y="279806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attendance events into live dashboards for instant visibility.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40404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050792"/>
            <a:ext cx="502920" cy="502920"/>
          </a:xfrm>
          <a:prstGeom prst="ellipse">
            <a:avLst/>
          </a:prstGeom>
          <a:solidFill>
            <a:srgbClr val="1016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" y="4050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469087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Smart Decisions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503834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predictive analytics to flag absenteeism trends early.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37947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40404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9432" y="405079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99432" y="4050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599432" y="469087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as Services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599432" y="503834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every capability as an independent, reusable SOA service.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37947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40404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94192" y="4050792"/>
            <a:ext cx="502920" cy="502920"/>
          </a:xfrm>
          <a:prstGeom prst="ellipse">
            <a:avLst/>
          </a:prstGeom>
          <a:solidFill>
            <a:srgbClr val="10163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94192" y="4050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394192" y="469087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Seamlessly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394192" y="503834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payroll, HR, and notification systems via APIs.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14574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Manual Tracking to Intelligent Automation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3317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registers or basic ID-card swipes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3522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93522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fraud detection — proxy check-ins go unnoticed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53872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53872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data reviewed only at month-end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14223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1422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generated manually, prone to delay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74573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74573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Tightly-coupled, hard-to-extend software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1463040"/>
            <a:ext cx="5486400" cy="4846320"/>
          </a:xfrm>
          <a:prstGeom prst="roundRect">
            <a:avLst>
              <a:gd name="adj" fmla="val 1887"/>
            </a:avLst>
          </a:prstGeom>
          <a:solidFill>
            <a:srgbClr val="10163A"/>
          </a:solidFill>
          <a:ln/>
          <a:effectLst>
            <a:outerShdw sx="100000" sy="100000" kx="0" ky="0" algn="bl" rotWithShape="0" blurRad="101600" dist="38100" dir="5400000">
              <a:srgbClr val="404040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92240" y="17190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240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22402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facial recognition with liveness checks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284378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284378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fraud &amp; anomaly detection in real time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344728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344728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analytics dashboard, updated as events occur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405079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405079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Auto-generated, exportable compliance reports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465429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465429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SOA services — scalable and reusable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14574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Service-Oriented Architecture Overview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capability is exposed as an independent, loosely-coupled service, orchestrated through a central API Gateway.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E9ED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   •   Web Portal  •  Mobile App  •  Kiosk / Camera Device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2468880"/>
            <a:ext cx="0" cy="3200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023360" y="278892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1016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023360" y="27889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 /  ESB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3355848"/>
            <a:ext cx="0" cy="29260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26948" y="365760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5400000">
              <a:srgbClr val="40404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00100" y="3657600"/>
            <a:ext cx="1865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Service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732788" y="4709160"/>
            <a:ext cx="0" cy="256032"/>
          </a:xfrm>
          <a:prstGeom prst="line">
            <a:avLst/>
          </a:prstGeom>
          <a:noFill/>
          <a:ln w="15875">
            <a:solidFill>
              <a:srgbClr val="AEB8D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907792" y="365760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00D9D0"/>
            </a:solidFill>
            <a:prstDash val="solid"/>
          </a:ln>
          <a:effectLst>
            <a:outerShdw sx="100000" sy="100000" kx="0" ky="0" algn="bl" rotWithShape="0" blurRad="63500" dist="25400" dir="5400000">
              <a:srgbClr val="40404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980944" y="3657600"/>
            <a:ext cx="1865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913632" y="4709160"/>
            <a:ext cx="0" cy="256032"/>
          </a:xfrm>
          <a:prstGeom prst="line">
            <a:avLst/>
          </a:prstGeom>
          <a:noFill/>
          <a:ln w="15875">
            <a:solidFill>
              <a:srgbClr val="AEB8D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88636" y="365760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5400000">
              <a:srgbClr val="40404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161788" y="3657600"/>
            <a:ext cx="1865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94476" y="4709160"/>
            <a:ext cx="0" cy="256032"/>
          </a:xfrm>
          <a:prstGeom prst="line">
            <a:avLst/>
          </a:prstGeom>
          <a:noFill/>
          <a:ln w="15875">
            <a:solidFill>
              <a:srgbClr val="AEB8D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269480" y="365760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00D9D0"/>
            </a:solidFill>
            <a:prstDash val="solid"/>
          </a:ln>
          <a:effectLst>
            <a:outerShdw sx="100000" sy="100000" kx="0" ky="0" algn="bl" rotWithShape="0" blurRad="63500" dist="25400" dir="5400000">
              <a:srgbClr val="40404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342632" y="3657600"/>
            <a:ext cx="1865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Service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75320" y="4709160"/>
            <a:ext cx="0" cy="256032"/>
          </a:xfrm>
          <a:prstGeom prst="line">
            <a:avLst/>
          </a:prstGeom>
          <a:noFill/>
          <a:ln w="15875">
            <a:solidFill>
              <a:srgbClr val="AEB8D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450324" y="365760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5400000">
              <a:srgbClr val="40404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523476" y="3657600"/>
            <a:ext cx="1865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456164" y="4709160"/>
            <a:ext cx="0" cy="256032"/>
          </a:xfrm>
          <a:prstGeom prst="line">
            <a:avLst/>
          </a:prstGeom>
          <a:noFill/>
          <a:ln w="15875">
            <a:solidFill>
              <a:srgbClr val="AEB8D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48640" y="521208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E9EDF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5212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  •   Attendance DB  •  Employee Records  •  Analytics Warehouse  •  Message Queue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4574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Technical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1A2354"/>
          </a:solidFill>
          <a:ln w="15875">
            <a:solidFill>
              <a:srgbClr val="00D9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28800"/>
            <a:ext cx="384048" cy="384048"/>
          </a:xfrm>
          <a:prstGeom prst="ellipse">
            <a:avLst/>
          </a:prstGeom>
          <a:solidFill>
            <a:srgbClr val="00D9D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0020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1600200"/>
            <a:ext cx="6949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9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dashboard, mobile check-in app, admin console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1A2354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7889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56032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2560320"/>
            <a:ext cx="6949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9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REST/SOAP microservices — Auth, Recognition, Attendance, Analytics, Notification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1A2354"/>
          </a:solidFill>
          <a:ln w="15875">
            <a:solidFill>
              <a:srgbClr val="FFB1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749040"/>
            <a:ext cx="384048" cy="384048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52044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Intelligence Layer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343400" y="3520440"/>
            <a:ext cx="6949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9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inference engine, rule-based automation, anomaly detection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48056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1A2354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7091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48056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4480560"/>
            <a:ext cx="6949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9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Gateway, Enterprise Service Bus, message broker (Kafka/RabbitMQ)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44068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1A2354"/>
          </a:solidFill>
          <a:ln w="15875">
            <a:solidFill>
              <a:srgbClr val="00D9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5669280"/>
            <a:ext cx="384048" cy="384048"/>
          </a:xfrm>
          <a:prstGeom prst="ellipse">
            <a:avLst/>
          </a:prstGeom>
          <a:solidFill>
            <a:srgbClr val="00D9D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5669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544068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343400" y="5440680"/>
            <a:ext cx="6949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9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DB, analytics warehouse, media/image store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4574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of the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4040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105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395728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Recognition Check-In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871216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Contactless, camera-based identity verification with liveness detection to stop spoofing.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343400" y="1572768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40404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1810512"/>
            <a:ext cx="457200" cy="457200"/>
          </a:xfrm>
          <a:prstGeom prst="ellipse">
            <a:avLst/>
          </a:prstGeom>
          <a:solidFill>
            <a:srgbClr val="1016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9432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395728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Automation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871216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engines auto-flag late arrivals, absences, and irregular patterns — no manual review needed.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138160" y="1572768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40404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1810512"/>
            <a:ext cx="457200" cy="457200"/>
          </a:xfrm>
          <a:prstGeom prst="ellipse">
            <a:avLst/>
          </a:prstGeom>
          <a:solidFill>
            <a:srgbClr val="00D9D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94192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94192" y="2395728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 Dashboard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394192" y="2871216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attendance metrics, department-wise trends, and predictive alerts as events happen.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40404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21538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480060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Notifications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5276088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alerts to HR and employees for anomalies, overtime, or missed check-outs.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343400" y="39776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40404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9432" y="4215384"/>
            <a:ext cx="457200" cy="457200"/>
          </a:xfrm>
          <a:prstGeom prst="ellipse">
            <a:avLst/>
          </a:prstGeom>
          <a:solidFill>
            <a:srgbClr val="10163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99432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599432" y="480060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Integrations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599432" y="5276088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REST APIs connect the system to payroll, HRMS, and access-control platforms.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138160" y="39776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40404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94192" y="4215384"/>
            <a:ext cx="457200" cy="457200"/>
          </a:xfrm>
          <a:prstGeom prst="ellipse">
            <a:avLst/>
          </a:prstGeom>
          <a:solidFill>
            <a:srgbClr val="00D9D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94192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⛨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394192" y="480060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&amp; Audit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394192" y="5276088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permissioned access with a full audit trail for compliance.</a:t>
            </a:r>
            <a:endParaRPr lang="en-US" sz="1080" dirty="0"/>
          </a:p>
        </p:txBody>
      </p:sp>
      <p:sp>
        <p:nvSpPr>
          <p:cNvPr id="34" name="Text 32"/>
          <p:cNvSpPr txBox="1"/>
          <p:nvPr/>
        </p:nvSpPr>
        <p:spPr>
          <a:xfrm>
            <a:off x="114574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88820"/>
            <a:ext cx="640080" cy="640080"/>
          </a:xfrm>
          <a:prstGeom prst="ellipse">
            <a:avLst/>
          </a:prstGeom>
          <a:solidFill>
            <a:srgbClr val="1016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888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013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16712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React.js, HTML5/CSS3, Chart.js for live dashboards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9888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9888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8013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216712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Spring Boot microservices, REST &amp; SOAP APIs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73552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662172"/>
            <a:ext cx="640080" cy="640080"/>
          </a:xfrm>
          <a:prstGeom prst="ellipse">
            <a:avLst/>
          </a:prstGeom>
          <a:solidFill>
            <a:srgbClr val="1016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6621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474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8404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&amp; deep-learning models (CNN) for facial recognition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273552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366217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36621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3474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38404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/ RabbitMQ for event-driven service communication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946904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335524"/>
            <a:ext cx="640080" cy="640080"/>
          </a:xfrm>
          <a:prstGeom prst="ellipse">
            <a:avLst/>
          </a:prstGeom>
          <a:solidFill>
            <a:srgbClr val="10163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3355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5148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551383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PostgreSQL for records, MongoDB for logs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4946904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5335524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92240" y="53355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5148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7315200" y="551383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containers orchestrated with Kubernetes; API Gateway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114574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Attendance Workflow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5400000">
              <a:srgbClr val="4040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591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24912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/ kiosk captures employee face on arrival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2240280" y="2971800"/>
            <a:ext cx="188366" cy="0"/>
          </a:xfrm>
          <a:prstGeom prst="line">
            <a:avLst/>
          </a:prstGeom>
          <a:noFill/>
          <a:ln w="19050">
            <a:solidFill>
              <a:srgbClr val="AEB8D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428646" y="219456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10163A"/>
            </a:solidFill>
            <a:prstDash val="solid"/>
          </a:ln>
          <a:effectLst>
            <a:outerShdw sx="100000" sy="100000" kx="0" ky="0" algn="bl" rotWithShape="0" blurRad="63500" dist="25400" dir="5400000">
              <a:srgbClr val="40404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23006" y="1737360"/>
            <a:ext cx="502920" cy="502920"/>
          </a:xfrm>
          <a:prstGeom prst="ellipse">
            <a:avLst/>
          </a:prstGeom>
          <a:solidFill>
            <a:srgbClr val="1016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023006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520086" y="23591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520086" y="2724912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matches face against enrolled records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4120286" y="2971800"/>
            <a:ext cx="188366" cy="0"/>
          </a:xfrm>
          <a:prstGeom prst="line">
            <a:avLst/>
          </a:prstGeom>
          <a:noFill/>
          <a:ln w="19050">
            <a:solidFill>
              <a:srgbClr val="AEB8D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08653" y="219456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5400000">
              <a:srgbClr val="40404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03013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03013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400093" y="23591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400093" y="2724912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&amp; anomaly checks confirm authenticity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6000293" y="2971800"/>
            <a:ext cx="188366" cy="0"/>
          </a:xfrm>
          <a:prstGeom prst="line">
            <a:avLst/>
          </a:prstGeom>
          <a:noFill/>
          <a:ln w="19050">
            <a:solidFill>
              <a:srgbClr val="AEB8D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188659" y="219456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10163A"/>
            </a:solidFill>
            <a:prstDash val="solid"/>
          </a:ln>
          <a:effectLst>
            <a:outerShdw sx="100000" sy="100000" kx="0" ky="0" algn="bl" rotWithShape="0" blurRad="63500" dist="25400" dir="5400000">
              <a:srgbClr val="40404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83019" y="1737360"/>
            <a:ext cx="502920" cy="502920"/>
          </a:xfrm>
          <a:prstGeom prst="ellipse">
            <a:avLst/>
          </a:prstGeom>
          <a:solidFill>
            <a:srgbClr val="10163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83019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280099" y="23591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Event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280099" y="2724912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Service timestamps and stores the event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7880299" y="2971800"/>
            <a:ext cx="188366" cy="0"/>
          </a:xfrm>
          <a:prstGeom prst="line">
            <a:avLst/>
          </a:prstGeom>
          <a:noFill/>
          <a:ln w="19050">
            <a:solidFill>
              <a:srgbClr val="AEB8DE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068666" y="219456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5400000">
              <a:srgbClr val="40404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663026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63026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160106" y="23591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160106" y="2724912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 triggers alerts for exceptions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9760306" y="2971800"/>
            <a:ext cx="188366" cy="0"/>
          </a:xfrm>
          <a:prstGeom prst="line">
            <a:avLst/>
          </a:prstGeom>
          <a:noFill/>
          <a:ln w="19050">
            <a:solidFill>
              <a:srgbClr val="AEB8DE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948672" y="219456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10163A"/>
            </a:solidFill>
            <a:prstDash val="solid"/>
          </a:ln>
          <a:effectLst>
            <a:outerShdw sx="100000" sy="100000" kx="0" ky="0" algn="bl" rotWithShape="0" blurRad="63500" dist="25400" dir="5400000">
              <a:srgbClr val="40404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543032" y="1737360"/>
            <a:ext cx="502920" cy="502920"/>
          </a:xfrm>
          <a:prstGeom prst="ellipse">
            <a:avLst/>
          </a:prstGeom>
          <a:solidFill>
            <a:srgbClr val="10163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543032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10040112" y="23591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0040112" y="2724912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updates attendance metrics in real time</a:t>
            </a:r>
            <a:endParaRPr lang="en-US" sz="98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44805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loop from capture to analytics completes in under two seconds per employee.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114574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Attendance Data Into Insight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46120" cy="1234440"/>
          </a:xfrm>
          <a:prstGeom prst="roundRect">
            <a:avLst>
              <a:gd name="adj" fmla="val 7407"/>
            </a:avLst>
          </a:prstGeom>
          <a:solidFill>
            <a:srgbClr val="1A2354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099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9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96.8%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134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arrival rate this week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3246120" cy="1234440"/>
          </a:xfrm>
          <a:prstGeom prst="roundRect">
            <a:avLst>
              <a:gd name="adj" fmla="val 7407"/>
            </a:avLst>
          </a:prstGeom>
          <a:solidFill>
            <a:srgbClr val="1A2354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1272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9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307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auto-flagged for review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434840"/>
            <a:ext cx="3246120" cy="1234440"/>
          </a:xfrm>
          <a:prstGeom prst="roundRect">
            <a:avLst>
              <a:gd name="adj" fmla="val 7407"/>
            </a:avLst>
          </a:prstGeom>
          <a:solidFill>
            <a:srgbClr val="1A2354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5445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9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2s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1480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recognition &amp; log time</a:t>
            </a:r>
            <a:endParaRPr lang="en-US" sz="11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160520" y="1600200"/>
          <a:ext cx="74523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4160520" y="4526280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stream directly from the Analytics Service, giving HR and management live visibility without waiting for end-of-month reports.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14574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of the Proposed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38528"/>
            <a:ext cx="3520440" cy="3931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5544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Employees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060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78992" y="26060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contactless, touch-free check-in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566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35661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self-service attendance view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526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" y="45262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disputes over recorded hours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43400" y="155448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155448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0163A"/>
          </a:solidFill>
          <a:ln/>
        </p:spPr>
      </p:sp>
      <p:sp>
        <p:nvSpPr>
          <p:cNvPr id="16" name="Shape 14"/>
          <p:cNvSpPr/>
          <p:nvPr/>
        </p:nvSpPr>
        <p:spPr>
          <a:xfrm>
            <a:off x="4343400" y="1938528"/>
            <a:ext cx="3520440" cy="393192"/>
          </a:xfrm>
          <a:prstGeom prst="rect">
            <a:avLst/>
          </a:prstGeom>
          <a:solidFill>
            <a:srgbClr val="1016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0" y="15544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HR &amp; Management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26060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73752" y="26060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manual reconciliation effort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3566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873752" y="35661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into workforce trends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526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873752" y="45262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data feeding payroll automatically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38160" y="155448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155448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00D9D0"/>
          </a:solidFill>
          <a:ln/>
        </p:spPr>
      </p:sp>
      <p:sp>
        <p:nvSpPr>
          <p:cNvPr id="26" name="Shape 24"/>
          <p:cNvSpPr/>
          <p:nvPr/>
        </p:nvSpPr>
        <p:spPr>
          <a:xfrm>
            <a:off x="8138160" y="1938528"/>
            <a:ext cx="3520440" cy="393192"/>
          </a:xfrm>
          <a:prstGeom prst="rect">
            <a:avLst/>
          </a:prstGeom>
          <a:solidFill>
            <a:srgbClr val="00D9D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66760" y="15544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Organization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366760" y="26060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668512" y="26060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fraud and time-theft losses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8366760" y="3566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668512" y="35661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services adapt to org growth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366760" y="4526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668512" y="45262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compliance &amp; audit readiness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114574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74520"/>
            <a:ext cx="502920" cy="502920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019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Challenges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670048"/>
            <a:ext cx="109728" cy="109728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25511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&amp; consent for biometric data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328416"/>
            <a:ext cx="109728" cy="109728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320954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accuracy under poor lighting or masks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3986784"/>
            <a:ext cx="109728" cy="109728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38679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complexity with legacy HR systems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4645152"/>
            <a:ext cx="109728" cy="109728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43000" y="45262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low-latency inference at scale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160020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10163A"/>
          </a:solidFill>
          <a:ln/>
          <a:effectLst>
            <a:outerShdw sx="100000" sy="100000" kx="0" ky="0" algn="bl" rotWithShape="0" blurRad="101600" dist="38100" dir="5400000">
              <a:srgbClr val="40404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1874520"/>
            <a:ext cx="502920" cy="502920"/>
          </a:xfrm>
          <a:prstGeom prst="ellipse">
            <a:avLst/>
          </a:prstGeom>
          <a:solidFill>
            <a:srgbClr val="00D9D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922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19019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92240" y="2670048"/>
            <a:ext cx="109728" cy="109728"/>
          </a:xfrm>
          <a:prstGeom prst="ellipse">
            <a:avLst/>
          </a:prstGeom>
          <a:solidFill>
            <a:srgbClr val="00D9D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66560" y="255117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for absenteeism forecasting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92240" y="3328416"/>
            <a:ext cx="109728" cy="109728"/>
          </a:xfrm>
          <a:prstGeom prst="ellipse">
            <a:avLst/>
          </a:prstGeom>
          <a:solidFill>
            <a:srgbClr val="00D9D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66560" y="320954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geofencing for remote / field employees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92240" y="3986784"/>
            <a:ext cx="109728" cy="109728"/>
          </a:xfrm>
          <a:prstGeom prst="ellipse">
            <a:avLst/>
          </a:prstGeom>
          <a:solidFill>
            <a:srgbClr val="00D9D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66560" y="386791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and multi-modal biometric authentication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92240" y="4645152"/>
            <a:ext cx="109728" cy="109728"/>
          </a:xfrm>
          <a:prstGeom prst="ellipse">
            <a:avLst/>
          </a:prstGeom>
          <a:solidFill>
            <a:srgbClr val="00D9D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66560" y="45262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workforce scheduling recommendations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14574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1A2354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389120"/>
            <a:ext cx="4206240" cy="4206240"/>
          </a:xfrm>
          <a:prstGeom prst="ellipse">
            <a:avLst/>
          </a:prstGeom>
          <a:solidFill>
            <a:srgbClr val="1A235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37160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Smarter, Service-Driven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to Attendance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6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facial-recognition AI, rule-based automation, and a modular Service-Oriented Architecture, the proposed system replaces error-prone manual tracking with a secure, scalable, and insight-driven attendance platform — one that benefits employees, HR teams, and the organization alike.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663440"/>
            <a:ext cx="1248156" cy="457200"/>
          </a:xfrm>
          <a:prstGeom prst="roundRect">
            <a:avLst>
              <a:gd name="adj" fmla="val 50000"/>
            </a:avLst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663440"/>
            <a:ext cx="1248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72284" y="4663440"/>
            <a:ext cx="1152144" cy="457200"/>
          </a:xfrm>
          <a:prstGeom prst="roundRect">
            <a:avLst>
              <a:gd name="adj" fmla="val 50000"/>
            </a:avLst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72284" y="466344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25596" y="4663440"/>
            <a:ext cx="1248156" cy="457200"/>
          </a:xfrm>
          <a:prstGeom prst="roundRect">
            <a:avLst>
              <a:gd name="adj" fmla="val 50000"/>
            </a:avLst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25596" y="4663440"/>
            <a:ext cx="1248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74920" y="4663440"/>
            <a:ext cx="1152144" cy="457200"/>
          </a:xfrm>
          <a:prstGeom prst="roundRect">
            <a:avLst>
              <a:gd name="adj" fmla="val 50000"/>
            </a:avLst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466344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28232" y="4663440"/>
            <a:ext cx="960120" cy="457200"/>
          </a:xfrm>
          <a:prstGeom prst="roundRect">
            <a:avLst>
              <a:gd name="adj" fmla="val 50000"/>
            </a:avLst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8232" y="46634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14574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0" y="-2011680"/>
            <a:ext cx="3200400" cy="3200400"/>
          </a:xfrm>
          <a:prstGeom prst="ellipse">
            <a:avLst/>
          </a:prstGeom>
          <a:ln w="1905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66360" y="-1325880"/>
            <a:ext cx="1828800" cy="1828800"/>
          </a:xfrm>
          <a:prstGeom prst="ellipse">
            <a:avLst/>
          </a:prstGeom>
          <a:ln w="19050">
            <a:solidFill>
              <a:srgbClr val="00D9D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0" y="25146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0" y="33375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80076" y="4023360"/>
            <a:ext cx="18288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425196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Attendance Management System Using Intelligent Automation and Real-Time Analytics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Subject Project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2026-09-22T05:36:42Z</dcterms:created>
  <dcterms:modified xsi:type="dcterms:W3CDTF">2026-09-22T05:36:42Z</dcterms:modified>
</cp:coreProperties>
</file>